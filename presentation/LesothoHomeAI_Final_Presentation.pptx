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b9bbc42c2a40f0" /><Relationship Type="http://schemas.openxmlformats.org/officeDocument/2006/relationships/extended-properties" Target="/docProps/app.xml" Id="R17befd83a4694347" /><Relationship Type="http://schemas.openxmlformats.org/officeDocument/2006/relationships/officeDocument" Target="/ppt/presentation.xml" Id="R0b545d91dfc84c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ffd6905d114f1c"/>
  </p:sldMasterIdLst>
  <p:notesMasterIdLst>
    <p:notesMasterId xmlns:r="http://schemas.openxmlformats.org/officeDocument/2006/relationships" r:id="R4e5da620bde64a8b"/>
  </p:notesMasterIdLst>
  <p:sldIdLst>
    <p:sldId xmlns:r="http://schemas.openxmlformats.org/officeDocument/2006/relationships" id="256" r:id="R2b95c8f11ca848e5"/>
    <p:sldId xmlns:r="http://schemas.openxmlformats.org/officeDocument/2006/relationships" id="257" r:id="R7dab59d02dcf405a"/>
    <p:sldId xmlns:r="http://schemas.openxmlformats.org/officeDocument/2006/relationships" id="258" r:id="R21cf5215642b42f7"/>
    <p:sldId xmlns:r="http://schemas.openxmlformats.org/officeDocument/2006/relationships" id="259" r:id="R885d76bdb5314074"/>
    <p:sldId xmlns:r="http://schemas.openxmlformats.org/officeDocument/2006/relationships" id="260" r:id="R346ed133fc2a4eda"/>
    <p:sldId xmlns:r="http://schemas.openxmlformats.org/officeDocument/2006/relationships" id="261" r:id="R9f54d10601db4b33"/>
    <p:sldId xmlns:r="http://schemas.openxmlformats.org/officeDocument/2006/relationships" id="262" r:id="Re4b4b555cdbb4080"/>
    <p:sldId xmlns:r="http://schemas.openxmlformats.org/officeDocument/2006/relationships" id="263" r:id="Rce35a6ab7cc84238"/>
    <p:sldId xmlns:r="http://schemas.openxmlformats.org/officeDocument/2006/relationships" id="264" r:id="R1b12499d7d1c42b0"/>
    <p:sldId xmlns:r="http://schemas.openxmlformats.org/officeDocument/2006/relationships" id="265" r:id="Rbf34ce2182724bd7"/>
    <p:sldId xmlns:r="http://schemas.openxmlformats.org/officeDocument/2006/relationships" id="266" r:id="R373975a2a8d74422"/>
    <p:sldId xmlns:r="http://schemas.openxmlformats.org/officeDocument/2006/relationships" id="267" r:id="Rb6f3da6bc5a6412f"/>
    <p:sldId xmlns:r="http://schemas.openxmlformats.org/officeDocument/2006/relationships" id="268" r:id="Rf74fc9079dec4421"/>
    <p:sldId xmlns:r="http://schemas.openxmlformats.org/officeDocument/2006/relationships" id="269" r:id="R22ef5b99f3d64307"/>
    <p:sldId xmlns:r="http://schemas.openxmlformats.org/officeDocument/2006/relationships" id="270" r:id="R005ab7a03df54c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fd6905d114f1c" /><Relationship Type="http://schemas.openxmlformats.org/officeDocument/2006/relationships/theme" Target="/ppt/theme/theme1.xml" Id="R34f71377bdf444d8" /><Relationship Type="http://schemas.openxmlformats.org/officeDocument/2006/relationships/notesMaster" Target="/ppt/notesMasters/notesMaster1.xml" Id="R4e5da620bde64a8b" /><Relationship Type="http://schemas.openxmlformats.org/officeDocument/2006/relationships/presProps" Target="/ppt/presProps.xml" Id="Re60cfd320f5a4f6c" /><Relationship Type="http://schemas.openxmlformats.org/officeDocument/2006/relationships/viewProps" Target="/ppt/viewProps.xml" Id="R661b4ba7a6034926" /><Relationship Type="http://schemas.openxmlformats.org/officeDocument/2006/relationships/tableStyles" Target="/ppt/tableStyles.xml" Id="R4d0e9fe63d274e6b" /><Relationship Type="http://schemas.openxmlformats.org/officeDocument/2006/relationships/slide" Target="/ppt/slides/slide1.xml" Id="R2b95c8f11ca848e5" /><Relationship Type="http://schemas.openxmlformats.org/officeDocument/2006/relationships/slide" Target="/ppt/slides/slide2.xml" Id="R7dab59d02dcf405a" /><Relationship Type="http://schemas.openxmlformats.org/officeDocument/2006/relationships/slide" Target="/ppt/slides/slide3.xml" Id="R21cf5215642b42f7" /><Relationship Type="http://schemas.openxmlformats.org/officeDocument/2006/relationships/slide" Target="/ppt/slides/slide4.xml" Id="R885d76bdb5314074" /><Relationship Type="http://schemas.openxmlformats.org/officeDocument/2006/relationships/slide" Target="/ppt/slides/slide5.xml" Id="R346ed133fc2a4eda" /><Relationship Type="http://schemas.openxmlformats.org/officeDocument/2006/relationships/slide" Target="/ppt/slides/slide6.xml" Id="R9f54d10601db4b33" /><Relationship Type="http://schemas.openxmlformats.org/officeDocument/2006/relationships/slide" Target="/ppt/slides/slide7.xml" Id="Re4b4b555cdbb4080" /><Relationship Type="http://schemas.openxmlformats.org/officeDocument/2006/relationships/slide" Target="/ppt/slides/slide8.xml" Id="Rce35a6ab7cc84238" /><Relationship Type="http://schemas.openxmlformats.org/officeDocument/2006/relationships/slide" Target="/ppt/slides/slide9.xml" Id="R1b12499d7d1c42b0" /><Relationship Type="http://schemas.openxmlformats.org/officeDocument/2006/relationships/slide" Target="/ppt/slides/slide10.xml" Id="Rbf34ce2182724bd7" /><Relationship Type="http://schemas.openxmlformats.org/officeDocument/2006/relationships/slide" Target="/ppt/slides/slide11.xml" Id="R373975a2a8d74422" /><Relationship Type="http://schemas.openxmlformats.org/officeDocument/2006/relationships/slide" Target="/ppt/slides/slide12.xml" Id="Rb6f3da6bc5a6412f" /><Relationship Type="http://schemas.openxmlformats.org/officeDocument/2006/relationships/slide" Target="/ppt/slides/slide13.xml" Id="Rf74fc9079dec4421" /><Relationship Type="http://schemas.openxmlformats.org/officeDocument/2006/relationships/slide" Target="/ppt/slides/slide14.xml" Id="R22ef5b99f3d64307" /><Relationship Type="http://schemas.openxmlformats.org/officeDocument/2006/relationships/slide" Target="/ppt/slides/slide15.xml" Id="R005ab7a03df54c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4fcb02f2fa849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8bd6a17d2340c1" /><Relationship Type="http://schemas.openxmlformats.org/officeDocument/2006/relationships/notesMaster" Target="/ppt/notesMasters/notesMaster1.xml" Id="Rd0bd15ff658249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6d07156ce04153" /><Relationship Type="http://schemas.openxmlformats.org/officeDocument/2006/relationships/notesMaster" Target="/ppt/notesMasters/notesMaster1.xml" Id="Rb4a3f8bda7a64a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0867fb9edc43ed" /><Relationship Type="http://schemas.openxmlformats.org/officeDocument/2006/relationships/notesMaster" Target="/ppt/notesMasters/notesMaster1.xml" Id="R97b201c2595740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aff574d81f47c2" /><Relationship Type="http://schemas.openxmlformats.org/officeDocument/2006/relationships/notesMaster" Target="/ppt/notesMasters/notesMaster1.xml" Id="R4930bbd1589d4e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9d1877326a4bac" /><Relationship Type="http://schemas.openxmlformats.org/officeDocument/2006/relationships/notesMaster" Target="/ppt/notesMasters/notesMaster1.xml" Id="R2f578c3cad974d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64cfb190074c39" /><Relationship Type="http://schemas.openxmlformats.org/officeDocument/2006/relationships/notesMaster" Target="/ppt/notesMasters/notesMaster1.xml" Id="Rcd27c628de184a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6223290f404a6c" /><Relationship Type="http://schemas.openxmlformats.org/officeDocument/2006/relationships/notesMaster" Target="/ppt/notesMasters/notesMaster1.xml" Id="R98cefe1c931e40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4892cca5094abf" /><Relationship Type="http://schemas.openxmlformats.org/officeDocument/2006/relationships/notesMaster" Target="/ppt/notesMasters/notesMaster1.xml" Id="R23be71aadedc4f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15cbe720c94683" /><Relationship Type="http://schemas.openxmlformats.org/officeDocument/2006/relationships/notesMaster" Target="/ppt/notesMasters/notesMaster1.xml" Id="Re8327a9e0a7a4a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af63a18f93469f" /><Relationship Type="http://schemas.openxmlformats.org/officeDocument/2006/relationships/notesMaster" Target="/ppt/notesMasters/notesMaster1.xml" Id="Re4e02803487346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bff62850e64630" /><Relationship Type="http://schemas.openxmlformats.org/officeDocument/2006/relationships/notesMaster" Target="/ppt/notesMasters/notesMaster1.xml" Id="Ra8296de1dbdf4a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d5e753df5b46d2" /><Relationship Type="http://schemas.openxmlformats.org/officeDocument/2006/relationships/notesMaster" Target="/ppt/notesMasters/notesMaster1.xml" Id="R8a120064be8f46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0145879e4547e7" /><Relationship Type="http://schemas.openxmlformats.org/officeDocument/2006/relationships/notesMaster" Target="/ppt/notesMasters/notesMaster1.xml" Id="R41349e76192847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b8cc8b95244706" /><Relationship Type="http://schemas.openxmlformats.org/officeDocument/2006/relationships/notesMaster" Target="/ppt/notesMasters/notesMaster1.xml" Id="R7807e5c30abe4ea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c24d605b44485f" /><Relationship Type="http://schemas.openxmlformats.org/officeDocument/2006/relationships/notesMaster" Target="/ppt/notesMasters/notesMaster1.xml" Id="R2c107adaa2f445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7e4b73ed2495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9851a00e68a471b" /><Relationship Type="http://schemas.openxmlformats.org/officeDocument/2006/relationships/slideLayout" Target="/ppt/slideLayouts/slideLayout2.xml" Id="Rbf04ab8809e64c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04ab8809e64c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e5ad004b0c44c4" /><Relationship Type="http://schemas.openxmlformats.org/officeDocument/2006/relationships/notesSlide" Target="/ppt/notesSlides/notesSlide1.xml" Id="R1a0b0ea065164c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f1506f15b5407b" /><Relationship Type="http://schemas.openxmlformats.org/officeDocument/2006/relationships/notesSlide" Target="/ppt/notesSlides/notesSlide2.xml" Id="R3699e0379d3148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95a038e07545a9" /><Relationship Type="http://schemas.openxmlformats.org/officeDocument/2006/relationships/notesSlide" Target="/ppt/notesSlides/notesSlide3.xml" Id="Re013fa9a216949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62769c7799422e" /><Relationship Type="http://schemas.openxmlformats.org/officeDocument/2006/relationships/notesSlide" Target="/ppt/notesSlides/notesSlide4.xml" Id="Re66790a0a7c44f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d3f9b8733948c0" /><Relationship Type="http://schemas.openxmlformats.org/officeDocument/2006/relationships/notesSlide" Target="/ppt/notesSlides/notesSlide5.xml" Id="R645cc8307b0e49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dc4cf5e32e47e6" /><Relationship Type="http://schemas.openxmlformats.org/officeDocument/2006/relationships/notesSlide" Target="/ppt/notesSlides/notesSlide6.xml" Id="R99e1a340a2db4e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7fa125d8cd4eb1" /><Relationship Type="http://schemas.openxmlformats.org/officeDocument/2006/relationships/notesSlide" Target="/ppt/notesSlides/notesSlide7.xml" Id="R6154adbb0eef4f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c15a50e8b44176" /><Relationship Type="http://schemas.openxmlformats.org/officeDocument/2006/relationships/notesSlide" Target="/ppt/notesSlides/notesSlide8.xml" Id="Rc2a8805fcea544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5b9bdab1ae4700" /><Relationship Type="http://schemas.openxmlformats.org/officeDocument/2006/relationships/notesSlide" Target="/ppt/notesSlides/notesSlide9.xml" Id="R681182f37aff49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fc88e65667423b" /><Relationship Type="http://schemas.openxmlformats.org/officeDocument/2006/relationships/notesSlide" Target="/ppt/notesSlides/notesSlide10.xml" Id="Rf41a8be5168a40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8e7726722848d7" /><Relationship Type="http://schemas.openxmlformats.org/officeDocument/2006/relationships/notesSlide" Target="/ppt/notesSlides/notesSlide11.xml" Id="R4fd10a1c8b3243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6a313b95bd4a0b" /><Relationship Type="http://schemas.openxmlformats.org/officeDocument/2006/relationships/notesSlide" Target="/ppt/notesSlides/notesSlide12.xml" Id="Rbb1f92f6709b42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8a90f5f4be4d01" /><Relationship Type="http://schemas.openxmlformats.org/officeDocument/2006/relationships/notesSlide" Target="/ppt/notesSlides/notesSlide13.xml" Id="R8fd628dcd45049b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24825b77034afe" /><Relationship Type="http://schemas.openxmlformats.org/officeDocument/2006/relationships/notesSlide" Target="/ppt/notesSlides/notesSlide14.xml" Id="R72b8c57a84f349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46968fb3d142f7" /><Relationship Type="http://schemas.openxmlformats.org/officeDocument/2006/relationships/notesSlide" Target="/ppt/notesSlides/notesSlide15.xml" Id="R689f3c3742d6497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BF1B80-09C7-487F-8E76-0EB3B007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240DA-EB31-4109-9E50-24A7F0A7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729CB-04A7-4BC0-BF59-EADC127F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4B35F-0438-4AED-A313-6AD7B588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733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LesothoHomeAI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C91FE-8B54-4347-BD22-AEA9F4A0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CD3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CD3FF"/>
                </a:solidFill>
                <a:latin typeface="Aptos"/>
                <a:ea typeface="Aptos"/>
                <a:cs typeface="Aptos"/>
              </a:rPr>
              <a:t>Multimodal AI real-estate marketing and recommendation system for Lesotho.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A8D9D-A95A-4257-92BE-2DE60C2C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DAF03-23D5-4DBF-BD57-FD523E87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Real listing data, images, bilingual text, recommendations, and campaigns.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3EA8B-DD1E-4DAD-9A15-78A3A7ED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23C77-C546-456B-BB8C-BACFAA48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Dashboard proves the workflow; code and artifacts prove the implementation.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A84FA-07DA-4AF1-8023-D91A24F2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DF9EF-5410-4A5D-BA8B-FA2FD406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Submission focus: explainable ML pipeline, reliability, and live demo readiness.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D421B-939F-4540-80A1-C0B19EB6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8466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AB644-3B1A-4F39-853C-06B2B1CB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7D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9FB7DF"/>
                </a:solidFill>
                <a:latin typeface="Consolas"/>
                <a:ea typeface="Consolas"/>
                <a:cs typeface="Consolas"/>
              </a:rPr>
              <a:t>Presenter 1: introduce problem, objectives, and module flow.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9E03B-9A3B-4AF5-A040-29D3AEA1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57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LesothoHomeAI</a:t>
            </a:r>
          </a:p>
        </p:txBody>
      </p:sp>
    </p:spTree>
    <p:extLst>
      <p:ext uri="{BB962C8B-B14F-4D97-AF65-F5344CB8AC3E}">
        <p14:creationId xmlns:p14="http://schemas.microsoft.com/office/powerpoint/2010/main" val="9410983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E7A36E-C31A-4FFB-AD9F-1E601779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16FCB-FBF6-46C0-AC25-40378893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99DD2-EDD5-4CE9-91B6-3ACB9E0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805DF-836C-4C7B-88A3-5B157BE4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733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Presentation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CA86F-0237-4718-98E3-00D152D4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CD3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CD3FF"/>
                </a:solidFill>
                <a:latin typeface="Aptos"/>
                <a:ea typeface="Aptos"/>
                <a:cs typeface="Aptos"/>
              </a:rPr>
              <a:t>Six speakers move from concept to dashboard proof to source-code proof.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687DB-19E5-4CA5-B8B1-154D78CC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A6"/>
          </a:solidFill>
          <a:ln xmlns:a="http://schemas.openxmlformats.org/drawingml/2006/main" w="0">
            <a:solidFill>
              <a:srgbClr val="1FD3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31F8B-BAFD-4331-B5E6-32DA7DC7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Overview -&gt; scraping -&gt; cleaning -&gt; CNN vision -&gt; NLP -&gt; fusion/deployment.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514EB-9A0F-41A1-B00F-52407B1C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A6"/>
          </a:solidFill>
          <a:ln xmlns:a="http://schemas.openxmlformats.org/drawingml/2006/main" w="0">
            <a:solidFill>
              <a:srgbClr val="1FD3A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177DD-5EFF-4B62-8B2F-3E051A30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Each module has dashboard evidence, code files, and generated artifacts.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3E5AE-FBEA-4E48-B82F-82CECD5D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A6"/>
          </a:solidFill>
          <a:ln xmlns:a="http://schemas.openxmlformats.org/drawingml/2006/main" w="0">
            <a:solidFill>
              <a:srgbClr val="1FD3A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D5155-F8CB-446A-B8F3-208E985D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The strategy is built for a live projector demo, not only static slides.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CAA55-C960-4866-B683-DA8296EB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8466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28C53-E1A5-4D50-BD63-5073366E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7D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9FB7DF"/>
                </a:solidFill>
                <a:latin typeface="Consolas"/>
                <a:ea typeface="Consolas"/>
                <a:cs typeface="Consolas"/>
              </a:rPr>
              <a:t>Use docs/PRESENTATION_SCRIPT_AND_DEMO_RUNBOOK.docx as the speaking guide.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DC180-C1BE-42FD-B0A7-32156E28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57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LesothoHomeAI</a:t>
            </a:r>
          </a:p>
        </p:txBody>
      </p:sp>
    </p:spTree>
    <p:extLst>
      <p:ext uri="{BB962C8B-B14F-4D97-AF65-F5344CB8AC3E}">
        <p14:creationId xmlns:p14="http://schemas.microsoft.com/office/powerpoint/2010/main" val="21198782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8CD1D6-21DD-49EA-A0B7-4D5C7522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DB35A-640A-408D-A6C6-D24CAF42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5F8D1-C1EA-4B14-A54E-F1ADF757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2FA7E-7ED3-40AA-A8EE-ABBCAEBA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733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System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C2395-F66F-4D05-A6CE-3F3E1D28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CD3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CD3FF"/>
                </a:solidFill>
                <a:latin typeface="Aptos"/>
                <a:ea typeface="Aptos"/>
                <a:cs typeface="Aptos"/>
              </a:rPr>
              <a:t>A full pipeline: collect, clean, learn, understand, rank, and communicate.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F814B-3605-434D-AA69-7F6B59C2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B4D"/>
          </a:solidFill>
          <a:ln xmlns:a="http://schemas.openxmlformats.org/drawingml/2006/main" w="0">
            <a:solidFill>
              <a:srgbClr val="FFCB4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A6794-2CBA-4E1B-BC2A-C80DA276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Scrapers create raw listing and image artifacts.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0195F-5F52-4009-8B67-4AB80CCD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B4D"/>
          </a:solidFill>
          <a:ln xmlns:a="http://schemas.openxmlformats.org/drawingml/2006/main" w="0">
            <a:solidFill>
              <a:srgbClr val="FFCB4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C15D5-E572-4044-B9B8-9B20459C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Cleaning/curation converts messy web data into model-ready datasets.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1BF57-5CB9-471C-8681-9EED32D8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B4D"/>
          </a:solidFill>
          <a:ln xmlns:a="http://schemas.openxmlformats.org/drawingml/2006/main" w="0">
            <a:solidFill>
              <a:srgbClr val="FFCB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970E8-A446-4DAB-9C34-6B425160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Vision, NLP, and structured signals are fused into strict recommendations.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0373EC-6A62-4944-8664-B78E19A2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8466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37F1D-C3F3-4A6E-9ECD-EA2584A1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7D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9FB7DF"/>
                </a:solidFill>
                <a:latin typeface="Consolas"/>
                <a:ea typeface="Consolas"/>
                <a:cs typeface="Consolas"/>
              </a:rPr>
              <a:t>Code: lesotho_property_ai/pipeline.py and module folders.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95D96-685F-413F-AB72-60C23697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57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LesothoHomeAI</a:t>
            </a:r>
          </a:p>
        </p:txBody>
      </p:sp>
    </p:spTree>
    <p:extLst>
      <p:ext uri="{BB962C8B-B14F-4D97-AF65-F5344CB8AC3E}">
        <p14:creationId xmlns:p14="http://schemas.microsoft.com/office/powerpoint/2010/main" val="6447756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8EEFB5-8EF6-4ABF-BAE4-9FE767FC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B1258-BB00-4E4F-850F-7AED9982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B38F3-39F6-4F7D-8D7B-7A8FC02C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606A2-EE52-404C-BF53-04BBF81B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733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Web Scraping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89FBA-EFBE-4CD5-A174-561836C9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CD3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CD3FF"/>
                </a:solidFill>
                <a:latin typeface="Aptos"/>
                <a:ea typeface="Aptos"/>
                <a:cs typeface="Aptos"/>
              </a:rPr>
              <a:t>Real data was collected from reachable Lesotho property sources.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C5024-D604-47D0-88FD-07669332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2FF"/>
          </a:solidFill>
          <a:ln xmlns:a="http://schemas.openxmlformats.org/drawingml/2006/main" w="0">
            <a:solidFill>
              <a:srgbClr val="35C2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2732C-9E8E-4979-8896-4DC10E08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369 raw records -&gt; 346 cleaned records.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B1B80-0C6C-49FF-86C1-A921DEED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2FF"/>
          </a:solidFill>
          <a:ln xmlns:a="http://schemas.openxmlformats.org/drawingml/2006/main" w="0">
            <a:solidFill>
              <a:srgbClr val="35C2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F9FDE-403D-4B4D-BC8E-9E71924E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1162 raw image references -&gt; 1081 cleaned image references.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AB6A1-A9D2-4B39-9A1D-5940C0C7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2FF"/>
          </a:solidFill>
          <a:ln xmlns:a="http://schemas.openxmlformats.org/drawingml/2006/main" w="0">
            <a:solidFill>
              <a:srgbClr val="35C2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0B462-CAD0-408D-A011-962E554F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SSRF hardening now blocks private hosts, unsafe redirects, and bad image fetches.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BB4C6-BBEB-4D59-BA30-96EFCCAF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8466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506F9-8EFC-44CF-BFA6-74C10CC4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7D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9FB7DF"/>
                </a:solidFill>
                <a:latin typeface="Consolas"/>
                <a:ea typeface="Consolas"/>
                <a:cs typeface="Consolas"/>
              </a:rPr>
              <a:t>Code: lesotho_property_ai/data/live_scrapers.py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DBFD89-DF6C-4BAD-86D9-8A695CBE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57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LesothoHomeAI</a:t>
            </a:r>
          </a:p>
        </p:txBody>
      </p:sp>
    </p:spTree>
    <p:extLst>
      <p:ext uri="{BB962C8B-B14F-4D97-AF65-F5344CB8AC3E}">
        <p14:creationId xmlns:p14="http://schemas.microsoft.com/office/powerpoint/2010/main" val="8044077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6AA415-32EF-4F33-96B0-50462F28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71025-ECC7-45E7-8800-5F0A76ED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68413-A9D0-481B-8B63-470965D6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68BDB-C1F3-47D3-B5BA-61CBF956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733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Data Preparation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B1579-3401-460E-98BB-A37B58A5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CD3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CD3FF"/>
                </a:solidFill>
                <a:latin typeface="Aptos"/>
                <a:ea typeface="Aptos"/>
                <a:cs typeface="Aptos"/>
              </a:rPr>
              <a:t>The model depends on clean prices, locations, bedrooms, descriptions, and image rows.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0FD54-353A-461E-AED6-958C7E57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FF"/>
          </a:solidFill>
          <a:ln xmlns:a="http://schemas.openxmlformats.org/drawingml/2006/main" w="0">
            <a:solidFill>
              <a:srgbClr val="E06C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5AF96-319F-4051-8F34-27932401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213 residential rows prepared for house-focused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D30AE-9E72-497B-9443-C34C5ABC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FF"/>
          </a:solidFill>
          <a:ln xmlns:a="http://schemas.openxmlformats.org/drawingml/2006/main" w="0">
            <a:solidFill>
              <a:srgbClr val="E06C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774F9-5518-4924-8B1E-AEDC74CF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213 CNN candidate properties and 697 image rows.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76DA7-FB19-41C1-A2A5-FDAE9B67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FF"/>
          </a:solidFill>
          <a:ln xmlns:a="http://schemas.openxmlformats.org/drawingml/2006/main" w="0">
            <a:solidFill>
              <a:srgbClr val="E06C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C196A-9AE5-477E-B077-5510CE91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HTML descriptions are stripped before rendering and before artifacts are reused.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21ECB9-4D40-4C5E-BFEA-43BE5BDE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8466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C9728-22AC-427B-A4AB-12BE1B77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7D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9FB7DF"/>
                </a:solidFill>
                <a:latin typeface="Consolas"/>
                <a:ea typeface="Consolas"/>
                <a:cs typeface="Consolas"/>
              </a:rPr>
              <a:t>Code: cleaning.py and curation.py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6A620-A8FF-4159-857C-BB9D2C7C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57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LesothoHomeAI</a:t>
            </a:r>
          </a:p>
        </p:txBody>
      </p:sp>
    </p:spTree>
    <p:extLst>
      <p:ext uri="{BB962C8B-B14F-4D97-AF65-F5344CB8AC3E}">
        <p14:creationId xmlns:p14="http://schemas.microsoft.com/office/powerpoint/2010/main" val="19263170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419ECF-2C85-435D-A700-42A9E07E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95CE6-E993-4340-A443-17F6396B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02472-D61B-4AA4-81C0-672607EF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598B0-9C90-4924-8C98-C92FA1BC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733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CNN Vision 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30560-2EA4-4DA8-8D30-9E0876CB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CD3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CD3FF"/>
                </a:solidFill>
                <a:latin typeface="Aptos"/>
                <a:ea typeface="Aptos"/>
                <a:cs typeface="Aptos"/>
              </a:rPr>
              <a:t>Computer vision adds visual evidence while structured filters protect recommendations.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D7F54-383B-4FA7-9672-18DC614C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C77B4-E9E8-4775-B080-BA2CBF6C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Condition accuracy: 83.3%; style accuracy: 83.3%.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DDA2C-D1AA-4C12-B6BC-E56107DF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62792-23AA-4B07-A292-913B7E8A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Property-type accuracy: 58.8%; bedroom grouping remains harder.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DFA68-0EED-45B2-912A-AC5990F1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41F49-CDDD-4C31-B508-F4FEC0DD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Uploaded-image demo uses vision description support when configured.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229EE-DDD9-4B1F-A1B8-A5AA5EDA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8466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FEC59-C154-4A96-89EA-B99FD377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7D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9FB7DF"/>
                </a:solidFill>
                <a:latin typeface="Consolas"/>
                <a:ea typeface="Consolas"/>
                <a:cs typeface="Consolas"/>
              </a:rPr>
              <a:t>Code: vision/training.py and vision/analyzer.py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287DD-7D5D-49F4-9218-935D851C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57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LesothoHomeAI</a:t>
            </a:r>
          </a:p>
        </p:txBody>
      </p:sp>
    </p:spTree>
    <p:extLst>
      <p:ext uri="{BB962C8B-B14F-4D97-AF65-F5344CB8AC3E}">
        <p14:creationId xmlns:p14="http://schemas.microsoft.com/office/powerpoint/2010/main" val="2668883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DC52CB-0D3D-42E5-9AD1-0A7F4F6B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8D42C-4006-4BE6-A75A-5440E59E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86606-23FD-4307-9C59-6E28BBA2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B266F-C372-43BD-BB1D-FD4C2503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733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NLP Studio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89BAA-7C6E-4778-8211-C7A595C9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CD3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CD3FF"/>
                </a:solidFill>
                <a:latin typeface="Aptos"/>
                <a:ea typeface="Aptos"/>
                <a:cs typeface="Aptos"/>
              </a:rPr>
              <a:t>Bilingual preference text becomes explainable similarity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85D79-7D1C-4C9E-8467-AEDEAFD3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1AB24-7336-4B66-AC91-C4AFC5E1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Vocabulary size: 924; query success rate: 100.0%.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D7110-7738-4644-988E-F2D06480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E93D9-6F88-48B5-BE4F-F94DB55B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Score = 0.55 cosine + 0.25 keyword overlap + 0.20 signal alignment.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D57873-0DB2-4146-99A7-6781BAEA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DFB40-F9D6-406F-A74E-C5ABABBD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Sesotho spelling variants are normalized during matching, not raw data storage.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3C7E3-1EA3-4082-88F9-8B84211A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8466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5F3E6-35FE-44AD-BFB1-D98BBC8A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7D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9FB7DF"/>
                </a:solidFill>
                <a:latin typeface="Consolas"/>
                <a:ea typeface="Consolas"/>
                <a:cs typeface="Consolas"/>
              </a:rPr>
              <a:t>Code: nlp/processor.py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55E1D-78E3-42E0-B1A5-F649909F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57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LesothoHomeAI</a:t>
            </a:r>
          </a:p>
        </p:txBody>
      </p:sp>
    </p:spTree>
    <p:extLst>
      <p:ext uri="{BB962C8B-B14F-4D97-AF65-F5344CB8AC3E}">
        <p14:creationId xmlns:p14="http://schemas.microsoft.com/office/powerpoint/2010/main" val="12169191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06524B-CED8-4A3B-A776-13960819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D43AE-EC52-4477-A36A-19278114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660BB-B9C6-4240-8BD0-6A679FB2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3546D-A9D0-4F9A-901E-A80F3F40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733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Fusion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2173E-81E0-420D-B184-3EB28899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CD3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CD3FF"/>
                </a:solidFill>
                <a:latin typeface="Aptos"/>
                <a:ea typeface="Aptos"/>
                <a:cs typeface="Aptos"/>
              </a:rPr>
              <a:t>The recommendation is a weighted decision, not a random AI guess.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5C53C-D0F9-435D-BFA0-F9253970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FC994-3559-4981-B82C-652CA778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Structured mean: 0.962; text mean: 0.231; vision mean: 0.877.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58024-3EC0-4CFD-9B70-1A053280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33D62-4469-459D-B994-9BA03938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Mean top-match score: 0.724; reliability: 0.939.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7F2E5-7896-43A6-AF88-DD9D52E8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A5B08-8450-47E8-8125-2251643D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Budget, district, and exact bedrooms are strict in customer main results.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1DF56-2103-42B9-97AB-D9AD47DA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8466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54C71-2849-45F4-B7CF-E6CF622E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7D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9FB7DF"/>
                </a:solidFill>
                <a:latin typeface="Consolas"/>
                <a:ea typeface="Consolas"/>
                <a:cs typeface="Consolas"/>
              </a:rPr>
              <a:t>Code: matching/engine.py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B2D25-45A9-40FB-82EC-3E893EF3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57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LesothoHomeAI</a:t>
            </a:r>
          </a:p>
        </p:txBody>
      </p:sp>
    </p:spTree>
    <p:extLst>
      <p:ext uri="{BB962C8B-B14F-4D97-AF65-F5344CB8AC3E}">
        <p14:creationId xmlns:p14="http://schemas.microsoft.com/office/powerpoint/2010/main" val="12283379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953107-A94B-4F5F-B437-C6DB87EE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EE487-C2CB-4BDB-BFF0-61DA1DEB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82548-CF68-4CB1-8F33-F9492641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B261D-57DC-4354-8D7E-1AABA7BD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733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Smart Matching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6FE35-8A3D-4BBC-B1C5-89FD2B9F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CD3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CD3FF"/>
                </a:solidFill>
                <a:latin typeface="Aptos"/>
                <a:ea typeface="Aptos"/>
                <a:cs typeface="Aptos"/>
              </a:rPr>
              <a:t>Admin sees live customer recommendation activity instead of fixed demo-only clients.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A4EC1-5307-43DF-92A1-6931EE75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0">
            <a:solidFill>
              <a:srgbClr val="F472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CA9D4-D4A3-41DB-A691-62EBF3D8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Best six recent customer runs can surface in the admin dashboard.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2C811-9B8A-40BE-959A-E0F6EAA6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0">
            <a:solidFill>
              <a:srgbClr val="F472B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24E73-4A79-44BD-84E1-EBBA54CC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Runs are isolated so simultaneous users do not overwrite one another.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FA297-746B-4867-B121-7905B1D2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0">
            <a:solidFill>
              <a:srgbClr val="F472B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3A6E1-E49D-4A85-A24B-8BA79458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This is the bridge between customer behavior and admin decision support.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C44C7A-BB98-44AC-BDC6-4AD1508F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8466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662C1F-368F-45D3-9EC5-706E6753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7D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9FB7DF"/>
                </a:solidFill>
                <a:latin typeface="Consolas"/>
                <a:ea typeface="Consolas"/>
                <a:cs typeface="Consolas"/>
              </a:rPr>
              <a:t>Dashboard: Admin -&gt; Smart Matching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07C4E-F56E-4B2B-90A0-BB1EE794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57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LesothoHomeAI</a:t>
            </a:r>
          </a:p>
        </p:txBody>
      </p:sp>
    </p:spTree>
    <p:extLst>
      <p:ext uri="{BB962C8B-B14F-4D97-AF65-F5344CB8AC3E}">
        <p14:creationId xmlns:p14="http://schemas.microsoft.com/office/powerpoint/2010/main" val="13871740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92EB73-780A-4B7B-9CEF-F9D260D6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37AC5-87CA-403B-A701-BFBE45A6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6AC24-2723-4F24-8270-BFCCF880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6A40E-77FC-4A25-8D1D-8E04214E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733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Campaign Automation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5C93E-E5AB-4D48-B7A4-3F27A702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CD3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CD3FF"/>
                </a:solidFill>
                <a:latin typeface="Aptos"/>
                <a:ea typeface="Aptos"/>
                <a:cs typeface="Aptos"/>
              </a:rPr>
              <a:t>Marketing text is generated from match evidence and customer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17476-7E7F-4B29-B13A-D84EC81E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7F17E-E82E-44D4-AEC5-D1E2685A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Demo artifacts generated 6 campaigns.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EF347-BAA9-4C86-8FF6-24771877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2F488-9FC0-43C5-A4BC-05618FA9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Mean estimated engagement score: 0.847.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92378-0902-4E0E-8CEF-A03DB282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50E5D-1DAF-4512-90AF-D452F45B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English hooks were strengthened while Sesotho output remains language-consistent.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6AC4B-A275-40E5-BDD7-BB335F07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8466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B1F98-8288-4AFE-BF1A-BEF773EF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7D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9FB7DF"/>
                </a:solidFill>
                <a:latin typeface="Consolas"/>
                <a:ea typeface="Consolas"/>
                <a:cs typeface="Consolas"/>
              </a:rPr>
              <a:t>Code: marketing/generator.py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CE051E-AF26-4A11-AAE0-94E62A19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57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LesothoHomeAI</a:t>
            </a:r>
          </a:p>
        </p:txBody>
      </p:sp>
    </p:spTree>
    <p:extLst>
      <p:ext uri="{BB962C8B-B14F-4D97-AF65-F5344CB8AC3E}">
        <p14:creationId xmlns:p14="http://schemas.microsoft.com/office/powerpoint/2010/main" val="141064259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9B4BA4-82B0-4D2C-9AB2-241B933C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EAA00-CDCC-4473-9CCB-448360A1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36A4C-9227-4D8F-943F-AE26E4F4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3F1D0-B51E-4073-BE2D-EEC90A7C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733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Customer Journey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65ECA-AE94-4918-AEA0-B7ACAC1B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CD3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CD3FF"/>
                </a:solidFill>
                <a:latin typeface="Aptos"/>
                <a:ea typeface="Aptos"/>
                <a:cs typeface="Aptos"/>
              </a:rPr>
              <a:t>The customer dashboard is now stricter and easier to defend.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30F3B-D3FC-4178-A5EA-3C57C242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F4A5E-60A4-4FB1-9DF8-5E43B6C1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User enters budget, district, bedroom count, and optional text preferences.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F62C0-A34F-4F24-AD14-022F4A15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B677C-DA89-4AFB-AAD1-4E4DC942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Main results must obey maximum budget, chosen district, and exact bedrooms.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5AC87-10CE-461A-B899-90828A2B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CAED2-C820-460F-ACBF-28C6E5F9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Near-bedroom alternatives are separated from exact results.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E2AB6-CDD4-47B2-926E-C4AFAAC1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8466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1BA85-5E6B-4852-86C8-86B4D8B5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7D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9FB7DF"/>
                </a:solidFill>
                <a:latin typeface="Consolas"/>
                <a:ea typeface="Consolas"/>
                <a:cs typeface="Consolas"/>
              </a:rPr>
              <a:t>Dashboard: Customer -&gt; Search -&gt; Recommendations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4661C-B685-416F-A23E-D183B7E8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57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LesothoHomeAI</a:t>
            </a:r>
          </a:p>
        </p:txBody>
      </p:sp>
    </p:spTree>
    <p:extLst>
      <p:ext uri="{BB962C8B-B14F-4D97-AF65-F5344CB8AC3E}">
        <p14:creationId xmlns:p14="http://schemas.microsoft.com/office/powerpoint/2010/main" val="11099859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B7E0E2-6566-4B91-8BA0-266DC3DD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6D771-9EC9-4D62-9D70-C7B69157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72A40-6D6E-4BFB-9371-5F0BBE2E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005B3-51AC-4BE2-8CB7-FF129A9E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733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Security And Reliability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C1A07-978E-4265-AE57-7A9F567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CD3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CD3FF"/>
                </a:solidFill>
                <a:latin typeface="Aptos"/>
                <a:ea typeface="Aptos"/>
                <a:cs typeface="Aptos"/>
              </a:rPr>
              <a:t>Final stabilization focused on realistic presentation pressure.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F11CD-5B79-4D74-9232-2D681174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97EE5-13F1-4B0D-B5CA-CCE96B7B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Bcrypt authentication and MySQL-backed users.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714F3-5FB5-4852-9585-CEE07D87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70A5F-CFB8-4CF3-A5A2-995C5391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Friendly database failure handling instead of raw crash pages.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9A10C-C493-4CC0-802B-07792E16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A322A-BEA3-4BC1-B6CA-9FDBF1AB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Scraper SSRF controls and per-user recommendation run isolation.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DB618-66A9-48FB-80B9-5D6362AC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8466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9BB86-EE89-431E-89F9-A5A4626D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7D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9FB7DF"/>
                </a:solidFill>
                <a:latin typeface="Consolas"/>
                <a:ea typeface="Consolas"/>
                <a:cs typeface="Consolas"/>
              </a:rPr>
              <a:t>Also mention Railway variables and local .flask/secrets.toml.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E118E-22B8-4EE6-9F2D-323E568F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57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LesothoHomeAI</a:t>
            </a:r>
          </a:p>
        </p:txBody>
      </p:sp>
    </p:spTree>
    <p:extLst>
      <p:ext uri="{BB962C8B-B14F-4D97-AF65-F5344CB8AC3E}">
        <p14:creationId xmlns:p14="http://schemas.microsoft.com/office/powerpoint/2010/main" val="103365922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394A7F-ACF2-4A8E-BD06-26877AAA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99C0A-DF33-44D4-895E-03FEEF94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AEEA7-2A85-47CE-B80A-473B3CA8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E34EA-2275-41CA-A637-1BB01E37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733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Terminal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419A2-1A81-408F-B408-D0038F57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CD3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CD3FF"/>
                </a:solidFill>
                <a:latin typeface="Aptos"/>
                <a:ea typeface="Aptos"/>
                <a:cs typeface="Aptos"/>
              </a:rPr>
              <a:t>Every dashboard claim maps to a runnable script or generated artifact.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AC860-08A0-45A5-AA72-ECCCF2E7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0">
            <a:solidFill>
              <a:srgbClr val="FDE04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A5640-78E5-4C5B-BDDA-82571B53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Scrape: scripts/run_scraper.py --real-only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FBE4B-DCB2-4265-8DCF-1860B460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0">
            <a:solidFill>
              <a:srgbClr val="FDE04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6E0C4-E689-4484-AB6C-DC2E9C74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Prepare: scripts/prepare_modeling_dataset.py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E68B4-D33C-4DC7-A3CB-C23D6460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047"/>
          </a:solidFill>
          <a:ln xmlns:a="http://schemas.openxmlformats.org/drawingml/2006/main" w="0">
            <a:solidFill>
              <a:srgbClr val="FDE04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F10EC-855C-453B-9268-33AF08E0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Train/evaluate: train_* scripts, evaluate_nlp_module.py, recommendation demo.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19754-B5BA-4890-970D-C8327091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8466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1E810-7E07-428A-8FAE-8DFFF415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7D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9FB7DF"/>
                </a:solidFill>
                <a:latin typeface="Consolas"/>
                <a:ea typeface="Consolas"/>
                <a:cs typeface="Consolas"/>
              </a:rPr>
              <a:t>Full commands are in README.md and docs/PRESENTATION_SCRIPT_AND_DEMO_RUNBOOK.docx.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0E1A0-2BFB-470D-95E3-3DC1F353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57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LesothoHomeAI</a:t>
            </a:r>
          </a:p>
        </p:txBody>
      </p:sp>
    </p:spTree>
    <p:extLst>
      <p:ext uri="{BB962C8B-B14F-4D97-AF65-F5344CB8AC3E}">
        <p14:creationId xmlns:p14="http://schemas.microsoft.com/office/powerpoint/2010/main" val="163963986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0B2058-B0C1-4906-98B1-7F56016A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F7161-3329-4231-A66E-2DFB337F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3945A-DE68-4D60-A003-16286AA6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4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5EB32-DED9-4102-A0F8-746BBE55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733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BE185-5F29-4C38-842E-D84F43E5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CD3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CD3FF"/>
                </a:solidFill>
                <a:latin typeface="Aptos"/>
                <a:ea typeface="Aptos"/>
                <a:cs typeface="Aptos"/>
              </a:rPr>
              <a:t>The system is honest about what is hard and how it handles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D79B1-5CC1-4351-BB83-893D2DFB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4FC"/>
          </a:solidFill>
          <a:ln xmlns:a="http://schemas.openxmlformats.org/drawingml/2006/main" w="0">
            <a:solidFill>
              <a:srgbClr val="C084F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755B0-DB3B-4573-AD48-1935FF2E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Exact bedrooms from exterior images are difficult, so user bedroom input is strict.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40EDC-90E9-4015-A90A-073BC375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4FC"/>
          </a:solidFill>
          <a:ln xmlns:a="http://schemas.openxmlformats.org/drawingml/2006/main" w="0">
            <a:solidFill>
              <a:srgbClr val="C084F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AE0B1-D4F4-4EB6-80C3-874119E9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More labeled images and more Sesotho text would improve model quality.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8109A-94F1-4542-8269-C3FEC225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4FC"/>
          </a:solidFill>
          <a:ln xmlns:a="http://schemas.openxmlformats.org/drawingml/2006/main" w="0">
            <a:solidFill>
              <a:srgbClr val="C084F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06FA4-DB17-4281-9626-777CAFDF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Production scaling would add object storage, migrations, queues, and monitoring.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1F823-6B8C-42DF-BEF1-A86A31A1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8466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28DF4-8C55-4D67-8B4E-CB419C67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7D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9FB7DF"/>
                </a:solidFill>
                <a:latin typeface="Consolas"/>
                <a:ea typeface="Consolas"/>
                <a:cs typeface="Consolas"/>
              </a:rPr>
              <a:t>This honesty makes the project easier to defend.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D0C01-6645-4DEB-8C34-74F4A008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57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LesothoHomeAI</a:t>
            </a:r>
          </a:p>
        </p:txBody>
      </p:sp>
    </p:spTree>
    <p:extLst>
      <p:ext uri="{BB962C8B-B14F-4D97-AF65-F5344CB8AC3E}">
        <p14:creationId xmlns:p14="http://schemas.microsoft.com/office/powerpoint/2010/main" val="187389911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7884D6-70B6-4B2E-B618-67578024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B0B39-8476-4ADD-80C7-5B43BC71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24CB1-EF1E-4348-BC55-BEAC787A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DD6AD-045E-4EF4-87F5-44DA58D0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733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Closing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FD453-38CE-4B17-8800-9CD834E5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CD3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CD3FF"/>
                </a:solidFill>
                <a:latin typeface="Aptos"/>
                <a:ea typeface="Aptos"/>
                <a:cs typeface="Aptos"/>
              </a:rPr>
              <a:t>LesothoHomeAI is a complete applied ML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0F0ED-486E-43DC-A252-A91FE6EE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4B25C-552F-4B6B-9E80-2EDE0797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It collects real data, cleans it, trains models, ranks houses, and writes campaigns.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CA9DF-7356-42F1-AE74-5633E4FE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2F635-1B11-44E0-94B4-D1BCA9D1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The dashboard shows the result; the code and artifacts show the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BA9C4-BCF6-4BC4-9F93-724F9B7A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FBCC4-F5ED-40F5-AE4A-59CBBF2C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The project is ready for a structured live presentation.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13085-B154-4404-A9F7-CC494DF7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8466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555C1-A8AA-454C-B620-E93A2EBE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7D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9FB7DF"/>
                </a:solidFill>
                <a:latin typeface="Consolas"/>
                <a:ea typeface="Consolas"/>
                <a:cs typeface="Consolas"/>
              </a:rPr>
              <a:t>Final line: dashboard proof plus source-code proof.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A745C-9015-44C1-8026-6DAAD66A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57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LesothoHomeAI</a:t>
            </a:r>
          </a:p>
        </p:txBody>
      </p:sp>
    </p:spTree>
    <p:extLst>
      <p:ext uri="{BB962C8B-B14F-4D97-AF65-F5344CB8AC3E}">
        <p14:creationId xmlns:p14="http://schemas.microsoft.com/office/powerpoint/2010/main" val="1899621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2026-05-31T09:16:20.0660000Z</dcterms:created>
  <dcterms:modified xsi:type="dcterms:W3CDTF">2026-05-31T09:16:20.0660000Z</dcterms:modified>
</coreProperties>
</file>